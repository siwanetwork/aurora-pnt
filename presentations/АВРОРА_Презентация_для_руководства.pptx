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КА</c:v>
                </c:pt>
              </c:strCache>
            </c:strRef>
          </c:tx>
          <c:spPr>
            <a:solidFill>
              <a:srgbClr val="00FFA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Ф0 · 2026</c:v>
                  </c:pt>
                  <c:pt idx="1">
                    <c:v>Ф1</c:v>
                  </c:pt>
                  <c:pt idx="2">
                    <c:v>Ф2</c:v>
                  </c:pt>
                  <c:pt idx="3">
                    <c:v>Ф3</c:v>
                  </c:pt>
                  <c:pt idx="4">
                    <c:v>Ф4 · 2034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12</c:v>
                </c:pt>
                <c:pt idx="2">
                  <c:v>90</c:v>
                </c:pt>
                <c:pt idx="3">
                  <c:v>180</c:v>
                </c:pt>
                <c:pt idx="4">
                  <c:v>300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7D6E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30"/>
          <c:min val="0"/>
        </c:scaling>
        <c:delete val="0"/>
        <c:axPos val="l"/>
        <c:majorGridlines>
          <c:spPr>
            <a:ln w="6350" cap="flat">
              <a:solidFill>
                <a:srgbClr val="1B2B4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E93A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Открыть с сути: АВРОРА — суверенное LEO-усиление ГЛОНАСС. Не замена среднеорбитальной группировки, а низкоорбитальный эшелон, дающий то, что MEO дать не может: сильный сигнал, Арктику, быстрый PPP, своё время. Стадия — аванпроект (TRL 2-3).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рамка 'зачем'. Все четыре пункта — реальные ограничения MEO-геометрии и линка. Подчеркнуть Арктику и помехозащиту как стратегические для РФ.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Решение в одном кадре: близкая орбита даёт сильный сигнал и быструю смену геометрии; 75° — Арктика; два сервиса — масс-маркет и защищённый; ISL — автономность. Орбиту НЕ снижаем ради усиления — усиление берём конструкцией сигнала.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Ключевой слайд по честности позиционирования. Не продаём 'самую точную дальность' — продаём системный эффект: скорость PPP, Арктику, защищённость и суверенность. Это снимает у технического заказчика ощущение завышенных обещаний.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потока ценности из одной инфраструктуры: открытый масс-маркет, защищённый сервис для КИИ/обороны и время-как-услуга. Время — недооценённый, но критичный для КИИ продукт.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Шесть чисел, которые надо запомнить. Все — каноничные и верифицированные моделью. Обязательно проговорить сноску про расчётный характер: это укрепляет доверие, а не ослабляет.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Аргумент тайминга: окно закрывается. Конкуренты в США и КНР уже строят LEO-PNT. Внутренний запрос на суверенность высок. И есть готовый организационный носитель — программа Сфера.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План фаз 3-12-90-180-300. Главная мысль: серьёзные деньги тратятся только после того, как дешёвые демонстраторы подтвердят критические технологии. Это управляемый риск, а не ставка ва-банк.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Финансовый аргумент: суверенная навигация за ~113 млрд за 7 лет — на порядок дешевле американской или европейской. Серийный аппарат ~105 млн. Старт удешевлён кубсатами.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Самый важный слайд для доверия. Честно: мы на аванпроекте. Но у каждого риска есть конкретный путь закрытия, и все они снимаются дешёвыми демонстраторами до больших денег. Не прячем зрелость — управляем 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Суверенность не на словах: вся цепочка — отечественная. Бортовые часы — собственная компетенция ШИВА, по ним нет внешней зависимости. РКС — головной по нав-ПН и времени.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Закрытие: повторить суть одной строкой и назвать конкретный следующий шаг — демонстраторы. Оставить место для контакта и запроса (раунд/роли) — заполняется владельцем под конкретную аудиторию.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8686800" cy="8686800"/>
          </a:xfrm>
          <a:prstGeom prst="ellipse">
            <a:avLst/>
          </a:prstGeom>
          <a:ln w="12700">
            <a:solidFill>
              <a:srgbClr val="13314A"/>
            </a:solidFill>
            <a:prstDash val="dash"/>
          </a:ln>
        </p:spPr>
      </p:sp>
      <p:pic>
        <p:nvPicPr>
          <p:cNvPr id="3" name="Image 0" descr="/sessions/inspiring-practical-franklin/mnt/outputs/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475488" cy="475488"/>
          </a:xfrm>
          <a:prstGeom prst="rect">
            <a:avLst/>
          </a:prstGeom>
        </p:spPr>
      </p:pic>
      <p:pic>
        <p:nvPicPr>
          <p:cNvPr id="4" name="Image 1" descr="/sessions/inspiring-practical-franklin/mnt/outputs/glob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15200" y="1078992"/>
            <a:ext cx="4480560" cy="463600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1520" y="8686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НИР «СИЯНИЕ»  ·  СИЯНИЕ-ТП-001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676656" y="150876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spc="4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АВРОРА</a:t>
            </a:r>
            <a:endParaRPr lang="en-US" sz="8400" dirty="0"/>
          </a:p>
        </p:txBody>
      </p:sp>
      <p:sp>
        <p:nvSpPr>
          <p:cNvPr id="7" name="Text 3"/>
          <p:cNvSpPr/>
          <p:nvPr/>
        </p:nvSpPr>
        <p:spPr>
          <a:xfrm>
            <a:off x="731520" y="2971800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Суверенная низкоорбитальная система навигации,</a:t>
            </a:r>
            <a:endParaRPr lang="en-US" sz="2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позиционирования и синхронизации</a:t>
            </a:r>
            <a:endParaRPr lang="en-US" sz="2100" dirty="0"/>
          </a:p>
        </p:txBody>
      </p:sp>
      <p:sp>
        <p:nvSpPr>
          <p:cNvPr id="8" name="Shape 4"/>
          <p:cNvSpPr/>
          <p:nvPr/>
        </p:nvSpPr>
        <p:spPr>
          <a:xfrm>
            <a:off x="731520" y="4160520"/>
            <a:ext cx="1603858" cy="420624"/>
          </a:xfrm>
          <a:prstGeom prst="roundRect">
            <a:avLst>
              <a:gd name="adj" fmla="val 19565"/>
            </a:avLst>
          </a:prstGeom>
          <a:solidFill>
            <a:srgbClr val="11213B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4160520"/>
            <a:ext cx="16038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LEO · 1000 КМ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2563978" y="4160520"/>
            <a:ext cx="1927555" cy="420624"/>
          </a:xfrm>
          <a:prstGeom prst="roundRect">
            <a:avLst>
              <a:gd name="adj" fmla="val 19565"/>
            </a:avLst>
          </a:prstGeom>
          <a:solidFill>
            <a:srgbClr val="11213B"/>
          </a:solidFill>
          <a:ln w="12700">
            <a:solidFill>
              <a:srgbClr val="38D9F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563978" y="4160520"/>
            <a:ext cx="19275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38D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УСИЛЕНИЕ ГЛОНАСС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720133" y="4160520"/>
            <a:ext cx="956462" cy="420624"/>
          </a:xfrm>
          <a:prstGeom prst="roundRect">
            <a:avLst>
              <a:gd name="adj" fmla="val 19565"/>
            </a:avLst>
          </a:prstGeom>
          <a:solidFill>
            <a:srgbClr val="11213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720133" y="4160520"/>
            <a:ext cx="9564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UTC(SU)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731520" y="50749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ООО «ШИВА НЕТВОРК»  ·  Москва · 2026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31520" y="5532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Презентация для руководства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ПРОБЛЕМА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Среднеорбитальный эшелон упёрся в физический потолок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ГНСС на высоте ≈20 000 км (ГЛОНАСС / GPS / Galileo) ограничены по четырём направлениям: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551176" cy="3611880"/>
          </a:xfrm>
          <a:prstGeom prst="roundRect">
            <a:avLst>
              <a:gd name="adj" fmla="val 3226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441448"/>
            <a:ext cx="566928" cy="566928"/>
          </a:xfrm>
          <a:prstGeom prst="ellipse">
            <a:avLst/>
          </a:prstGeom>
          <a:solidFill>
            <a:srgbClr val="0C1A30"/>
          </a:solidFill>
          <a:ln w="17780">
            <a:solidFill>
              <a:srgbClr val="38D9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41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D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227832"/>
            <a:ext cx="2039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Слабый сигнал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96112" y="3776472"/>
            <a:ext cx="203911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≈26 дБ слабее, чем с 1000 км. Легко глушится и подавляется — уязвимость в конфликтной среде.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47288" y="2148840"/>
            <a:ext cx="2551176" cy="3611880"/>
          </a:xfrm>
          <a:prstGeom prst="roundRect">
            <a:avLst>
              <a:gd name="adj" fmla="val 3226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21608" y="2441448"/>
            <a:ext cx="566928" cy="566928"/>
          </a:xfrm>
          <a:prstGeom prst="ellipse">
            <a:avLst/>
          </a:prstGeom>
          <a:solidFill>
            <a:srgbClr val="0C1A30"/>
          </a:solidFill>
          <a:ln w="17780">
            <a:solidFill>
              <a:srgbClr val="00FF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21608" y="2441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03320" y="3227832"/>
            <a:ext cx="2039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Арктика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703320" y="3776472"/>
            <a:ext cx="203911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Слабое покрытие и геометрия выше 70° с.ш. — а это стратегический регион России.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54496" y="2148840"/>
            <a:ext cx="2551176" cy="3611880"/>
          </a:xfrm>
          <a:prstGeom prst="roundRect">
            <a:avLst>
              <a:gd name="adj" fmla="val 3226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28816" y="2441448"/>
            <a:ext cx="566928" cy="566928"/>
          </a:xfrm>
          <a:prstGeom prst="ellipse">
            <a:avLst/>
          </a:prstGeom>
          <a:solidFill>
            <a:srgbClr val="0C1A30"/>
          </a:solidFill>
          <a:ln w="1778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28816" y="2441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10528" y="3227832"/>
            <a:ext cx="2039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Медленный PPP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10528" y="3776472"/>
            <a:ext cx="203911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Высокоточное позиционирование (PPP) сходится 20–40 минут — неприемлемо для оперативных задач.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061704" y="2148840"/>
            <a:ext cx="2551176" cy="3611880"/>
          </a:xfrm>
          <a:prstGeom prst="roundRect">
            <a:avLst>
              <a:gd name="adj" fmla="val 3226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336024" y="2441448"/>
            <a:ext cx="566928" cy="566928"/>
          </a:xfrm>
          <a:prstGeom prst="ellipse">
            <a:avLst/>
          </a:prstGeom>
          <a:solidFill>
            <a:srgbClr val="0C1A30"/>
          </a:solidFill>
          <a:ln w="17780">
            <a:solidFill>
              <a:srgbClr val="F5A5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36024" y="2441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317736" y="3227832"/>
            <a:ext cx="2039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Единственный эшелон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317736" y="3776472"/>
            <a:ext cx="203911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орбитальный слой — стратегическая уязвимость национальной навигации.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АВРОРА · ООО «ШИВА НЕТВОРК» · Конфиденциально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1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РЕШЕНИЕ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Низкоорбитальный эшелон усиления</a:t>
            </a:r>
            <a:endParaRPr lang="en-US" sz="3300" dirty="0"/>
          </a:p>
        </p:txBody>
      </p:sp>
      <p:pic>
        <p:nvPicPr>
          <p:cNvPr id="4" name="Image 0" descr="/sessions/inspiring-practical-franklin/mnt/outputs/glob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00200"/>
            <a:ext cx="4297680" cy="4443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9893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D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Группировка Walker 300/15 · 1000 км · 75°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74920" y="1783080"/>
            <a:ext cx="6583680" cy="841248"/>
          </a:xfrm>
          <a:prstGeom prst="roundRect">
            <a:avLst>
              <a:gd name="adj" fmla="val 9783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367528" y="2057400"/>
            <a:ext cx="292608" cy="292608"/>
          </a:xfrm>
          <a:prstGeom prst="ellipse">
            <a:avLst/>
          </a:prstGeom>
          <a:solidFill>
            <a:srgbClr val="00FFA3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52160" y="1911096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Группировка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852160" y="2221992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КА, Walker 300/15 — плотная смена геометрии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74920" y="2788920"/>
            <a:ext cx="6583680" cy="841248"/>
          </a:xfrm>
          <a:prstGeom prst="roundRect">
            <a:avLst>
              <a:gd name="adj" fmla="val 9783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367528" y="3063240"/>
            <a:ext cx="292608" cy="292608"/>
          </a:xfrm>
          <a:prstGeom prst="ellipse">
            <a:avLst/>
          </a:prstGeom>
          <a:solidFill>
            <a:srgbClr val="38D9F5"/>
          </a:solidFill>
          <a:ln w="12700">
            <a:solidFill>
              <a:srgbClr val="38D9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52160" y="2916936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Орбита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5852160" y="3227832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Высота 1000 км, наклонение 75° — покрытие Арктики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74920" y="3794760"/>
            <a:ext cx="6583680" cy="841248"/>
          </a:xfrm>
          <a:prstGeom prst="roundRect">
            <a:avLst>
              <a:gd name="adj" fmla="val 9783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367528" y="4069080"/>
            <a:ext cx="292608" cy="29260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3922776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Двухсервисный сигнал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5852160" y="4233672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Открытый Сервис А + защищённый Сервис Б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074920" y="4800600"/>
            <a:ext cx="6583680" cy="841248"/>
          </a:xfrm>
          <a:prstGeom prst="roundRect">
            <a:avLst>
              <a:gd name="adj" fmla="val 9783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367528" y="5074920"/>
            <a:ext cx="292608" cy="292608"/>
          </a:xfrm>
          <a:prstGeom prst="ellipse">
            <a:avLst/>
          </a:prstGeom>
          <a:solidFill>
            <a:srgbClr val="00FFA3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52160" y="4928616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Межспутниковые линии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5852160" y="5239512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 Ka — автономность и единая шкала времени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074920" y="5806440"/>
            <a:ext cx="6583680" cy="841248"/>
          </a:xfrm>
          <a:prstGeom prst="roundRect">
            <a:avLst>
              <a:gd name="adj" fmla="val 9783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367528" y="6080760"/>
            <a:ext cx="292608" cy="292608"/>
          </a:xfrm>
          <a:prstGeom prst="ellipse">
            <a:avLst/>
          </a:prstGeom>
          <a:solidFill>
            <a:srgbClr val="38D9F5"/>
          </a:solidFill>
          <a:ln w="12700">
            <a:solidFill>
              <a:srgbClr val="38D9F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52160" y="5934456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Точное время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5852160" y="6245352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Служба SHIWA TIME — суверенная синхронизация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АВРОРА · ООО «ШИВА НЕТВОРК» · Конфиденциально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1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 ЧЁМ ПРЕИМУЩЕСТВО — ЧЕСТНО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Выигрыш — в системе, а не в одной псевдодальности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точности одной дальности АВРОРА — на уровне ГЛОНАСС. Преимущество даёт совокупность четырёх факторов: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2551176" cy="3520440"/>
          </a:xfrm>
          <a:prstGeom prst="roundRect">
            <a:avLst>
              <a:gd name="adj" fmla="val 3226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505456"/>
            <a:ext cx="182880" cy="182880"/>
          </a:xfrm>
          <a:prstGeom prst="ellipse">
            <a:avLst/>
          </a:prstGeom>
          <a:solidFill>
            <a:srgbClr val="00FFA3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852928"/>
            <a:ext cx="2039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PPP за 1–3 мин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703320"/>
            <a:ext cx="20391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Сходимость высокоточного решения против 20–40 минут у MEO. Подтверждено натурными LEO-данными.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47288" y="2194560"/>
            <a:ext cx="2551176" cy="3520440"/>
          </a:xfrm>
          <a:prstGeom prst="roundRect">
            <a:avLst>
              <a:gd name="adj" fmla="val 3226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03320" y="2505456"/>
            <a:ext cx="182880" cy="182880"/>
          </a:xfrm>
          <a:prstGeom prst="ellipse">
            <a:avLst/>
          </a:prstGeom>
          <a:solidFill>
            <a:srgbClr val="38D9F5"/>
          </a:solidFill>
          <a:ln w="12700">
            <a:solidFill>
              <a:srgbClr val="38D9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2852928"/>
            <a:ext cx="2039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Арктика 75°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03320" y="3703320"/>
            <a:ext cx="20391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Рабочая геометрия и покрытие там, где среднеорбитальные системы слабы.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54496" y="2194560"/>
            <a:ext cx="2551176" cy="3520440"/>
          </a:xfrm>
          <a:prstGeom prst="roundRect">
            <a:avLst>
              <a:gd name="adj" fmla="val 3226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10528" y="2505456"/>
            <a:ext cx="182880" cy="18288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0528" y="2852928"/>
            <a:ext cx="2039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Помехозащита +23 дБ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10528" y="3703320"/>
            <a:ext cx="20391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Защищённый Сервис Б — запас ×200 к подавлению, без снижения орбиты.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061704" y="2194560"/>
            <a:ext cx="2551176" cy="3520440"/>
          </a:xfrm>
          <a:prstGeom prst="roundRect">
            <a:avLst>
              <a:gd name="adj" fmla="val 3226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317736" y="2505456"/>
            <a:ext cx="182880" cy="18288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17736" y="2852928"/>
            <a:ext cx="2039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Аутентификация ГОСТ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317736" y="3703320"/>
            <a:ext cx="20391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навигационного сообщения на отечественной криптографии. Суверенность контура.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АВРОРА · ООО «ШИВА НЕТВОРК» · Конфиденциально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1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ПРОДУКТ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группировка — три сервиса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74720" cy="4160520"/>
          </a:xfrm>
          <a:prstGeom prst="roundRect">
            <a:avLst>
              <a:gd name="adj" fmla="val 2368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112264"/>
            <a:ext cx="237744" cy="237744"/>
          </a:xfrm>
          <a:prstGeom prst="ellipse">
            <a:avLst/>
          </a:prstGeom>
          <a:solidFill>
            <a:srgbClr val="00FFA3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8448" y="20574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 А — открытый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50976" y="2834640"/>
            <a:ext cx="2907792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Масс-маркет и комбинированный режим с ГЛОНАСС</a:t>
            </a:r>
            <a:endParaRPr lang="en-US" sz="12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CEP ≈ 1 м в комбинированном режиме</a:t>
            </a:r>
            <a:endParaRPr lang="en-US" sz="12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Совместим с GPS / Galileo, усиление +11 дБ</a:t>
            </a:r>
            <a:endParaRPr lang="en-US" sz="12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Транспорт, БПЛА, геодезия, массовый пользователь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783080"/>
            <a:ext cx="3474720" cy="4160520"/>
          </a:xfrm>
          <a:prstGeom prst="roundRect">
            <a:avLst>
              <a:gd name="adj" fmla="val 2368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81728" y="2112264"/>
            <a:ext cx="237744" cy="237744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47488" y="20574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 Б — защищённый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700016" y="2834640"/>
            <a:ext cx="2907792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Помехозащита +23 дБ (запас ×200 к подавлению)</a:t>
            </a:r>
            <a:endParaRPr lang="en-US" sz="12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Аутентификация навигационного сообщения на ГОСТ</a:t>
            </a:r>
            <a:endParaRPr lang="en-US" sz="12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Выделенная L-полоса АВРОРА</a:t>
            </a:r>
            <a:endParaRPr lang="en-US" sz="12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КИИ, транспорт, спецпотребители, оборона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783080"/>
            <a:ext cx="3474720" cy="4160520"/>
          </a:xfrm>
          <a:prstGeom prst="roundRect">
            <a:avLst>
              <a:gd name="adj" fmla="val 2368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30768" y="2112264"/>
            <a:ext cx="237744" cy="237744"/>
          </a:xfrm>
          <a:prstGeom prst="ellipse">
            <a:avLst/>
          </a:prstGeom>
          <a:solidFill>
            <a:srgbClr val="38D9F5"/>
          </a:solidFill>
          <a:ln w="12700">
            <a:solidFill>
              <a:srgbClr val="38D9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96528" y="20574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SHIWA TIME — время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449056" y="2834640"/>
            <a:ext cx="2907792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Суверенная служба точного времени UTC(SU)</a:t>
            </a:r>
            <a:endParaRPr lang="en-US" sz="12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Наносекундный уровень синхронизации</a:t>
            </a:r>
            <a:endParaRPr lang="en-US" sz="12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Распределённый национальный эталон</a:t>
            </a:r>
            <a:endParaRPr lang="en-US" sz="12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Телеком, энергетика, финансы — синхронизация КИИ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АВРОРА · ООО «ШИВА НЕТВОРК» · Конфиденциально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1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КЛЮЧЕВЫЕ ПОКАЗАТЕЛИ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система даёт — в цифрах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74720" cy="1627632"/>
          </a:xfrm>
          <a:prstGeom prst="roundRect">
            <a:avLst>
              <a:gd name="adj" fmla="val 5056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3911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F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 ≈ 1 м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32688" y="286207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в комбинированном режиме LEO+ГЛОНАСС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9120" y="1874520"/>
            <a:ext cx="3474720" cy="1627632"/>
          </a:xfrm>
          <a:prstGeom prst="roundRect">
            <a:avLst>
              <a:gd name="adj" fmla="val 5056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203911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8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мин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681728" y="286207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Сходимость высокоточного PPP-решения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1874520"/>
            <a:ext cx="3474720" cy="1627632"/>
          </a:xfrm>
          <a:prstGeom prst="roundRect">
            <a:avLst>
              <a:gd name="adj" fmla="val 5056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12480" y="203911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≈14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8430768" y="286207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Спутников в зоне видимости (N_vis)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3474720" cy="1627632"/>
          </a:xfrm>
          <a:prstGeom prst="roundRect">
            <a:avLst>
              <a:gd name="adj" fmla="val 5056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395935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F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нс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932688" y="478231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Синхронизация к шкале UTC(SU)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89120" y="3794760"/>
            <a:ext cx="3474720" cy="1627632"/>
          </a:xfrm>
          <a:prstGeom prst="roundRect">
            <a:avLst>
              <a:gd name="adj" fmla="val 5056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395935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8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1,67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4681728" y="478231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PDOP p95 в комбинированном режиме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38160" y="3794760"/>
            <a:ext cx="3474720" cy="1627632"/>
          </a:xfrm>
          <a:prstGeom prst="roundRect">
            <a:avLst>
              <a:gd name="adj" fmla="val 5056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12480" y="395935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 дБ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8430768" y="478231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Помехозащита Сервиса Б (запас ×200)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Расчётные значения — комплекс моделирования aurora.pnt; внешняя сверка с натурными LEO-данными (CentiSpace, LeGNSS) — §45.3.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АВРОРА · ООО «ШИВА НЕТВОРК» · Конфиденциально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1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ПОЧЕМУ СЕЙЧАС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 возможностей открыто прямо сейчас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74720" cy="3931920"/>
          </a:xfrm>
          <a:prstGeom prst="roundRect">
            <a:avLst>
              <a:gd name="adj" fmla="val 2368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203704"/>
            <a:ext cx="457200" cy="457200"/>
          </a:xfrm>
          <a:prstGeom prst="ellipse">
            <a:avLst/>
          </a:prstGeom>
          <a:solidFill>
            <a:srgbClr val="0C1A30"/>
          </a:solidFill>
          <a:ln w="17780">
            <a:solidFill>
              <a:srgbClr val="00FF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203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32688" y="2862072"/>
            <a:ext cx="2889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Мировая гонка LEO-PNT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3657600"/>
            <a:ext cx="28895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Xona PULSAR (США), CentiSpace / Geespace (КНР), Starlink-PNT. Низкоорбитальная навигация формируется как новый класс — место занимают сейчас.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874520"/>
            <a:ext cx="3474720" cy="3931920"/>
          </a:xfrm>
          <a:prstGeom prst="roundRect">
            <a:avLst>
              <a:gd name="adj" fmla="val 2368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1728" y="2203704"/>
            <a:ext cx="457200" cy="457200"/>
          </a:xfrm>
          <a:prstGeom prst="ellipse">
            <a:avLst/>
          </a:prstGeom>
          <a:solidFill>
            <a:srgbClr val="0C1A30"/>
          </a:solidFill>
          <a:ln w="17780">
            <a:solidFill>
              <a:srgbClr val="38D9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2203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D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81728" y="2862072"/>
            <a:ext cx="2889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Суверенный запрос РФ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81728" y="3657600"/>
            <a:ext cx="28895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Независимость от зарубежных ГНСС, защита критической инфраструктуры и устойчивость в Арктике — приоритет национального масштаба.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1874520"/>
            <a:ext cx="3474720" cy="3931920"/>
          </a:xfrm>
          <a:prstGeom prst="roundRect">
            <a:avLst>
              <a:gd name="adj" fmla="val 2368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30768" y="2203704"/>
            <a:ext cx="457200" cy="457200"/>
          </a:xfrm>
          <a:prstGeom prst="ellipse">
            <a:avLst/>
          </a:prstGeom>
          <a:solidFill>
            <a:srgbClr val="0C1A30"/>
          </a:solidFill>
          <a:ln w="1778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30768" y="2203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30768" y="2862072"/>
            <a:ext cx="2889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 программы «Сфера»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30768" y="3657600"/>
            <a:ext cx="28895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Возможность войти в многоорбитальную программу как навигационно-временно́й столп рядом со связным «Гонцом».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АВРОРА · ООО «ШИВА НЕТВОРК» · Конфиденциально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1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ДОРОЖНАЯ КАРТА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Поэтапное развёртывание с де-рискингом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766560" cy="4069080"/>
          </a:xfrm>
          <a:prstGeom prst="roundRect">
            <a:avLst>
              <a:gd name="adj" fmla="val 2022"/>
            </a:avLst>
          </a:prstGeom>
          <a:solidFill>
            <a:srgbClr val="0C1A30"/>
          </a:solidFill>
          <a:ln w="12700">
            <a:solidFill>
              <a:srgbClr val="2638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868680" y="2057400"/>
          <a:ext cx="635508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26680" y="1783080"/>
            <a:ext cx="3840480" cy="1920240"/>
          </a:xfrm>
          <a:prstGeom prst="roundRect">
            <a:avLst>
              <a:gd name="adj" fmla="val 4286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001000" y="1965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Демонстраторы Ф0–Ф1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001000" y="237744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Дешёвые 16U CubeSat (наклонение 87°)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Проверяют сигнал, ISL и дисциплину часов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Закрывают риски ДО серийных инвестиций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26680" y="3931920"/>
            <a:ext cx="3840480" cy="1920240"/>
          </a:xfrm>
          <a:prstGeom prst="roundRect">
            <a:avLst>
              <a:gd name="adj" fmla="val 4286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001000" y="4114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Операционные фазы Ф2–Ф4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001000" y="452628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Наклонение 75° — покрытие России и Арктики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Ф3 (180 КА) — полное покрытие РФ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Ф4 (300 КА) — глобальный сервис, ~2034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АВРОРА · ООО «ШИВА НЕТВОРК» · Конфиденциально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1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ЭКОНОМИКА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 — на порядок ниже зарубежных ГНСС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50976" y="2130552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F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113 млрд ₽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69264" y="297180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стоимость владения (LCC) за 7 лет, с восполнением группировки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87452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74536" y="2130552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8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183 млрд ₽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592824" y="297180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LCC за 15 лет эксплуатации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950208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50976" y="420624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105 млн ₽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969264" y="5047488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серийного космического аппарата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3950208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74536" y="420624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10 дешевле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592824" y="5047488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GPS III / Galileo (свыше $10 млрд)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8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Удешевление старта: демонстраторы Ф0–Ф1 на платформе 16U CubeSat — ≈ 820 млн ₽ (втрое дешевле полноразмерных).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АВРОРА · ООО «ШИВА НЕТВОРК» · Конфиденциально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1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ЗРЕЛОСТЬ И РИСКИ — ЧЕСТНО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мы сейчас и как снимаем риски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788920" cy="3657600"/>
          </a:xfrm>
          <a:prstGeom prst="roundRect">
            <a:avLst>
              <a:gd name="adj" fmla="val 2951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2402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300" kern="0" dirty="0">
                <a:solidFill>
                  <a:srgbClr val="90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</a:t>
            </a:r>
            <a:endParaRPr lang="en-US" sz="7400" dirty="0"/>
          </a:p>
        </p:txBody>
      </p:sp>
      <p:sp>
        <p:nvSpPr>
          <p:cNvPr id="7" name="Text 5"/>
          <p:cNvSpPr/>
          <p:nvPr/>
        </p:nvSpPr>
        <p:spPr>
          <a:xfrm>
            <a:off x="868680" y="39776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Аванпроект.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Критический путь — 4 риска, закрываются демонстраторами Ф0–Ф1.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0" y="1920240"/>
            <a:ext cx="7955280" cy="841248"/>
          </a:xfrm>
          <a:prstGeom prst="roundRect">
            <a:avLst>
              <a:gd name="adj" fmla="val 9783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95344" y="2093976"/>
            <a:ext cx="493776" cy="493776"/>
          </a:xfrm>
          <a:prstGeom prst="ellipse">
            <a:avLst/>
          </a:prstGeom>
          <a:solidFill>
            <a:srgbClr val="0C1A30"/>
          </a:solidFill>
          <a:ln w="17780">
            <a:solidFill>
              <a:srgbClr val="00FF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95344" y="20939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К-1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03911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Бортовой стандарт CSAC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72000" y="235000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Собственная разработка ШИВА (как Quantum-18). Лётная квалификация на Ф0–Ф1.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0" y="2880360"/>
            <a:ext cx="7955280" cy="841248"/>
          </a:xfrm>
          <a:prstGeom prst="roundRect">
            <a:avLst>
              <a:gd name="adj" fmla="val 9783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95344" y="3054096"/>
            <a:ext cx="493776" cy="493776"/>
          </a:xfrm>
          <a:prstGeom prst="ellipse">
            <a:avLst/>
          </a:prstGeom>
          <a:solidFill>
            <a:srgbClr val="0C1A30"/>
          </a:solidFill>
          <a:ln w="17780">
            <a:solidFill>
              <a:srgbClr val="38D9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95344" y="30540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D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К-2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299923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Орбитальное определение / ISL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72000" y="33101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Заявочные характеристики — лётное подтверждение на демонстраторах.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0" y="3840480"/>
            <a:ext cx="7955280" cy="841248"/>
          </a:xfrm>
          <a:prstGeom prst="roundRect">
            <a:avLst>
              <a:gd name="adj" fmla="val 9783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95344" y="4014216"/>
            <a:ext cx="493776" cy="493776"/>
          </a:xfrm>
          <a:prstGeom prst="ellipse">
            <a:avLst/>
          </a:prstGeom>
          <a:solidFill>
            <a:srgbClr val="0C1A30"/>
          </a:solidFill>
          <a:ln w="17780">
            <a:solidFill>
              <a:srgbClr val="A855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95344" y="401421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К-4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0" y="395935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Спектр Сервиса Б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572000" y="42702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Выделенная L-полоса: заявка ГКРЧ и координация МСЭ (API не позднее 2026).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57600" y="4800600"/>
            <a:ext cx="7955280" cy="841248"/>
          </a:xfrm>
          <a:prstGeom prst="roundRect">
            <a:avLst>
              <a:gd name="adj" fmla="val 9783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95344" y="4974336"/>
            <a:ext cx="493776" cy="493776"/>
          </a:xfrm>
          <a:prstGeom prst="ellipse">
            <a:avLst/>
          </a:prstGeom>
          <a:solidFill>
            <a:srgbClr val="0C1A30"/>
          </a:solidFill>
          <a:ln w="17780">
            <a:solidFill>
              <a:srgbClr val="F5A5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95344" y="49743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К-3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0" y="491947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Экономика восполнения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572000" y="523036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 замены отказавших КА уже учтена в модели LCC.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АВРОРА · ООО «ШИВА НЕТВОРК» · Конфиденциально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1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КООПЕРАЦИЯ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Опора на отечественную промышленность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1207008"/>
          </a:xfrm>
          <a:prstGeom prst="roundRect">
            <a:avLst>
              <a:gd name="adj" fmla="val 6818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50976" y="2139696"/>
            <a:ext cx="310896" cy="310896"/>
          </a:xfrm>
          <a:prstGeom prst="ellipse">
            <a:avLst/>
          </a:prstGeom>
          <a:solidFill>
            <a:srgbClr val="38D9F5"/>
          </a:solidFill>
          <a:ln w="12700">
            <a:solidFill>
              <a:srgbClr val="38D9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44752" y="204825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КА (≈140 кг)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44752" y="243230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АО «ИСС» им. Решетнёва · ГК «СПУТНИКС»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349240" cy="1207008"/>
          </a:xfrm>
          <a:prstGeom prst="roundRect">
            <a:avLst>
              <a:gd name="adj" fmla="val 6818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74536" y="2139696"/>
            <a:ext cx="310896" cy="310896"/>
          </a:xfrm>
          <a:prstGeom prst="ellipse">
            <a:avLst/>
          </a:prstGeom>
          <a:solidFill>
            <a:srgbClr val="00FFA3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68312" y="204825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Навигационная ПН и время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68312" y="243230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АО «РКС» — нав-аппаратура, ЧВО, интерфейс UTC(SU)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264408"/>
            <a:ext cx="5349240" cy="1207008"/>
          </a:xfrm>
          <a:prstGeom prst="roundRect">
            <a:avLst>
              <a:gd name="adj" fmla="val 6818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50976" y="3575304"/>
            <a:ext cx="310896" cy="310896"/>
          </a:xfrm>
          <a:prstGeom prst="ellipse">
            <a:avLst/>
          </a:prstGeom>
          <a:solidFill>
            <a:srgbClr val="00FFA3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44752" y="348386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Бортовые атомные часы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44752" y="386791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ООО «ШИВА НЕТВОРК» — Quantum-18 (space-Rb) + CSAC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3264408"/>
            <a:ext cx="5349240" cy="1207008"/>
          </a:xfrm>
          <a:prstGeom prst="roundRect">
            <a:avLst>
              <a:gd name="adj" fmla="val 6818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74536" y="3575304"/>
            <a:ext cx="310896" cy="31089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68312" y="348386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Наземный эталон времени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68312" y="386791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ОАО «Время-Ч» — водородный мазер Ч1-1008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700016"/>
            <a:ext cx="5349240" cy="1207008"/>
          </a:xfrm>
          <a:prstGeom prst="roundRect">
            <a:avLst>
              <a:gd name="adj" fmla="val 6818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50976" y="5010912"/>
            <a:ext cx="310896" cy="310896"/>
          </a:xfrm>
          <a:prstGeom prst="ellipse">
            <a:avLst/>
          </a:prstGeom>
          <a:solidFill>
            <a:srgbClr val="38D9F5"/>
          </a:solidFill>
          <a:ln w="12700">
            <a:solidFill>
              <a:srgbClr val="38D9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44752" y="491947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Выведение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44752" y="53035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АО «РКЦ "Прогресс"»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4700016"/>
            <a:ext cx="5349240" cy="1207008"/>
          </a:xfrm>
          <a:prstGeom prst="roundRect">
            <a:avLst>
              <a:gd name="adj" fmla="val 6818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74536" y="5010912"/>
            <a:ext cx="310896" cy="310896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68312" y="491947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Демонстраторы 16U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68312" y="53035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СПУТНИКС · Геоскан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" y="60533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8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Элементная база и наземный сегмент — отечественные. Криптозащита навигационного сообщения — только ГОСТ.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АВРОРА · ООО «ШИВА НЕТВОРК» · Конфиденциально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1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194560"/>
            <a:ext cx="7772400" cy="7772400"/>
          </a:xfrm>
          <a:prstGeom prst="ellipse">
            <a:avLst/>
          </a:prstGeom>
          <a:ln w="12700">
            <a:solidFill>
              <a:srgbClr val="15314A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82296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ИТОГ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АВРОРА — суверенный PNT для России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251460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· Арктика · помехозащита · суверенное время —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одной группировки, не снижая орбиту.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22960" y="3657600"/>
            <a:ext cx="6583680" cy="1920240"/>
          </a:xfrm>
          <a:prstGeom prst="roundRect">
            <a:avLst>
              <a:gd name="adj" fmla="val 4286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38862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Следующий шаг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429768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демонстраторов Ф0–Ф1 (16U CubeSat) — закрытие критического пути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(часы CSAC, ISL/орбита, спектр) до серийных инвестиций.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680960" y="3657600"/>
            <a:ext cx="3657600" cy="1920240"/>
          </a:xfrm>
          <a:prstGeom prst="roundRect">
            <a:avLst>
              <a:gd name="adj" fmla="val 4286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955280" y="3886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Контакт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955280" y="42976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ООО «ШИВА НЕТВОРК»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НИР «Сияние» · СИЯНИЕ-ТП-001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Приложение: полный техпроект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6309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ООО «ШИВА НЕТВОРК» · 2026 · Конфиденциально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АВРОРА — презентация для руководства</dc:title>
  <dc:subject>PptxGenJS Presentation</dc:subject>
  <dc:creator>ООО ШИВА НЕТВОРК</dc:creator>
  <cp:lastModifiedBy>ООО ШИВА НЕТВОРК</cp:lastModifiedBy>
  <cp:revision>1</cp:revision>
  <dcterms:created xsi:type="dcterms:W3CDTF">2026-06-27T14:14:20Z</dcterms:created>
  <dcterms:modified xsi:type="dcterms:W3CDTF">2026-06-27T14:14:20Z</dcterms:modified>
</cp:coreProperties>
</file>