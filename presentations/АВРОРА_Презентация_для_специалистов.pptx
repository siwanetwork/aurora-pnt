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11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Технический дек для специалистов/техсовета/РКС. Тон инженерный. Все числа — выход комплекса моделирования aurora.pnt, не натурные измерения; внешняя сверка §45.3. Опираемся только на проверенные точностные числа.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Классическая трёхсегментная архитектура GNSS, но с двумя отличиями: двухсервисный сигнал (А/Б) и наземная раздача времени через SHIWA TIME, а не только нав-сигнал.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фаз — вариант B: 3/12/90/180/300. Не 18/60. Геометрия комбинированного режима (PDOP 1,67) — ключ к точности, а не одиночная псевдодальность.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сервиса с одной группировки. Аналоги усиления (Xona +20, Iridium STL +30) снижают орбиту; АВРОРА берёт +23 дБ конструкцией сигнала в своей полосе, не снижая орбиту.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Часы — собственная компетенция ШИВА (закрытие риска К-1 — лётная квалификация на Ф0-1). Дорогой space-Rb только на 15 якорях, дешёвый CSAC на всех 300 — экономия часового сегмента ~85% при сохранении системной шкалы уровня space-Rb (ансамбль, §28.6).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мысль для метрологов: относительная синхронизация (взаимное согласие часов КА) — это и есть то, что определяет точность псевдодальностей. Ансамбль её оптимизирует и наследует прослеживаемость к UTC(SU) от якорей.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АКЦЕНТНЫЙ СЛАЙД ПО ЗАПРОСУ. Ключевое: спутник доводит UTC(SU) до наземной опорной точки по радио (&lt;10 нс), а дальше ПО SHIWA TIME раздаёт время туда, где радио недоступно — ЦОД, операторские сети, edge. Это и софт (демон), и железо (Open TimeCard + CSAC) ШИВА НЕТВОРК — единая суверенная экосистема космос-земля.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Уникальность SHIWA TIME: не ещё одна реализация PTP, а отдельный класс — P2P-ансамбль без грандмастера, толерантный к асимметрии, строящий распределённый эталон, с единым ядром для земли и орбиты. Отечественный стек (демон + Open TimeCard + SA5x).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Cross-plane ISL Ф3 (3820 км) — на границе дальности Ka; Ф4 (3325 км) — с запасом. ISL OD даёт удержание эфемерид 35 ч без наземки — закрытие зависимости от МЦУ.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Строго каноничные точностные числа. Не заявляем 'самую точную дальность'. Эффект — системный: геометрия N_vis≈14, быстрый PPP, Арктика, защищённость.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Целостность для авиационных заходов LPV-200: вертикальный защитный уровень с запасом ниже допустимого. Это расчёт модели, помечаем как требующий лётной валидации.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Помехозащита и аутентификация — стратегические для КИИ/обороны. Криптография — отечественная (ГОСТ), не NIST. Сочетается с анти-спуфинг логикой SHIWA TIME (два независимых UTC).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РКС это центральный слайд: каждый слой — отечественный. Координатная основа ПЗ-90.11 (как ГЛОНАСС), время UTC(SU), крипто ГОСТ, часы и раздача времени — ШИВА.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Бортовые часы и раздача времени — компетенция ШИВА, вносится в кооперацию готовой; внешней зависимости по часам нет. РКС — головной по нав-ПН и ЧВО.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Честный статус: TRL 2-3. Каждый риск имеет конкретный путь закрытия, все снимаются дешёвыми демонстраторами до серийных инвестиций. Числа — расчётные (модель), не натурные.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Закрытие: нормативная база соблюдена, все ключевые слои отечественные, расчёты воспроизводимы кодом. SHIWA TIME — отдельная сильная сторона: суверенная раздача времени космос-земля на своём ПО и железе.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194560"/>
            <a:ext cx="9144000" cy="9144000"/>
          </a:xfrm>
          <a:prstGeom prst="ellipse">
            <a:avLst/>
          </a:prstGeom>
          <a:ln w="12700">
            <a:solidFill>
              <a:srgbClr val="13314A"/>
            </a:solidFill>
            <a:prstDash val="dash"/>
          </a:ln>
        </p:spPr>
      </p:sp>
      <p:pic>
        <p:nvPicPr>
          <p:cNvPr id="3" name="Image 0" descr="/sessions/inspiring-practical-franklin/mnt/outputs/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ТЕХНИЧЕСКИЙ ПРОЕКТ · СИЯНИЕ-ТП-001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76656" y="15544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kern="0" spc="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АВРОРА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731520" y="29718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низкоорбитальной навигации, позиционирования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высокоточной синхронизации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31520" y="38862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Системно-техническая презентация для специалистов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4526280"/>
            <a:ext cx="1898294" cy="402336"/>
          </a:xfrm>
          <a:prstGeom prst="roundRect">
            <a:avLst>
              <a:gd name="adj" fmla="val 20455"/>
            </a:avLst>
          </a:prstGeom>
          <a:solidFill>
            <a:srgbClr val="11213B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526280"/>
            <a:ext cx="18982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LEO 1000 КМ · 75°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30982" y="4526280"/>
            <a:ext cx="1503274" cy="402336"/>
          </a:xfrm>
          <a:prstGeom prst="roundRect">
            <a:avLst>
              <a:gd name="adj" fmla="val 20455"/>
            </a:avLst>
          </a:prstGeom>
          <a:solidFill>
            <a:srgbClr val="11213B"/>
          </a:solidFill>
          <a:ln w="12700">
            <a:solidFill>
              <a:srgbClr val="38D9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30982" y="4526280"/>
            <a:ext cx="15032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8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WALKER 300/15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35424" y="4526280"/>
            <a:ext cx="1799539" cy="402336"/>
          </a:xfrm>
          <a:prstGeom prst="roundRect">
            <a:avLst>
              <a:gd name="adj" fmla="val 20455"/>
            </a:avLst>
          </a:prstGeom>
          <a:solidFill>
            <a:srgbClr val="1121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35424" y="4526280"/>
            <a:ext cx="17995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UTC(SU) · &lt; 5 НС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ООО «ШИВА НЕТВОРК» · НИР «Сияние» · 2026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38160" y="1188720"/>
            <a:ext cx="3383280" cy="4572000"/>
          </a:xfrm>
          <a:prstGeom prst="roundRect">
            <a:avLst>
              <a:gd name="adj" fmla="val 2162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41248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ПАРАМЕТРЫ СИСТЕМЫ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412480" y="18745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Группировка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12480" y="20939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 300/15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412480" y="23317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Высота · наклонение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412480" y="25511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км · 75°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412480" y="27889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Спутников в виду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12480" y="30083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14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412480" y="32461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412480" y="34655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L1/L5 + L-полоса (А/Б)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412480" y="37033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12480" y="3922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CSAC + space-Rb + H-мазер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412480" y="41605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412480" y="43799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 26 ГГц, 4 канала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412480" y="46177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Шкала времени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412480" y="48371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UTC(SU), &lt; 5 нс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8412480" y="50749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Целостность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412480" y="52943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ARAIM LPV-200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сегмента · двухсервисный сигнал · ISL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89320" y="1600200"/>
            <a:ext cx="5577840" cy="4160520"/>
          </a:xfrm>
          <a:prstGeom prst="roundRect">
            <a:avLst>
              <a:gd name="adj" fmla="val 1538"/>
            </a:avLst>
          </a:prstGeom>
          <a:solidFill>
            <a:srgbClr val="F4F8FC"/>
          </a:solidFill>
          <a:ln w="12700">
            <a:solidFill>
              <a:srgbClr val="2A3D5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sessions/inspiring-practical-franklin/mnt/aurora-pnt/results/system_concept/segment_diagram_phase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48" y="1709928"/>
            <a:ext cx="5358384" cy="3941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783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Космический сегмент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КА, нав-ПН: Сервис А (L1/L5) + Сервис Б (L-полоса)</a:t>
            </a:r>
            <a:endParaRPr lang="en-US" sz="110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Бортовые часы CSAC / space-Rb, привязка к UTC(SU)</a:t>
            </a:r>
            <a:endParaRPr lang="en-US" sz="110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Межспутниковые линии ISL Ka — автономность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Пользовательский сегмент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566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Приёмники L1/L5 + L-полоса, режимы A/B/C</a:t>
            </a:r>
            <a:endParaRPr lang="en-US" sz="110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Комбинированная обработка с ГЛОНАСС (ISB)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4434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Наземный сегмент (МКС АВРОРА)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4754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станция слежения, ЦУП, эталон UTC(SU)</a:t>
            </a:r>
            <a:endParaRPr lang="en-US" sz="110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Раздача времени потребителям — ПО SHIWA TIME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ГРУППИРОВКА И ГЕОМЕТРИЯ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Поэтапная Walker 300/15, 1000 км</a:t>
            </a:r>
            <a:endParaRPr lang="en-US" sz="2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72800" cy="27432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Фаза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Конфигурация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Наклонение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Покрытие / задача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Ф0 — Демонстратор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демонстрация сигнала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Ф1 — Тестовая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ISL, LPT, дисциплина часов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Ф2 — Региональная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×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РФ ≈ 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Ф3 — Операционная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× 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РФ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Ф4 — Глобальная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×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глобально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75488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49194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14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32688" y="54681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Спутников в виду (N_vis)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89120" y="475488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0" y="49194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8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 / 1,67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681728" y="54681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PDOP p95 — авт. / комбинир.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38160" y="475488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12480" y="49194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430768" y="54681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4+ КА (Ф3–Ф4)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8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Фазы 0–1 — наклонение 87° (демо); фазы 2–4 — 75° (покрытие России и Арктики).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НАВИГАЦИОННЫЙ СИГНАЛ · §65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Двухсервисная архитектура: открытый А / защищённый Б</a:t>
            </a:r>
            <a:endParaRPr lang="en-US" sz="2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72800" cy="332841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Сервис А — открытый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Сервис Б — защищённый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Полоса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RNSS L1 / L5 (общая с GNSS)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Выделенная L-полоса АВРОРА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Совместимость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/ Galileo-совместим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Самостоятельная, защищённая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Ограничение ПФП МСЭ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 маской −122 дБВт/м²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−110 дБВт/м² (своя полоса)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Передатчик / антенна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штатный нав-передатчик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Вт + 8 дБи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Выигрыш к ГЛОНАСС / MEO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 дБ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 дБ (× 200)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Назначение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масс-маркет, комбинир. с ГЛОНАСС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КИИ, транспорт, оборона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B8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 сравнения — ГЛОНАСС/MEO. +23 дБ достижим только в собственной полосе Сервиса Б; в общей с GPS полосе предел задаёт ПФП МСЭ. Орбита при этом не снижается.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ЧАСОВАЯ АРХИТЕКТУРА · §8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Трёхъярусный часовой ансамбль</a:t>
            </a:r>
            <a:endParaRPr lang="en-US" sz="2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72800" cy="21945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Ярус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 стандарта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Кол-во (Ф4)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Якорный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space-Rb «Quantum-18» (ШИВА НЕТВОРК)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прослеживаемость к UTC(SU)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Терминальный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CSAC SA.45s — чип-цезий Cs-133, CPT (КПН ШИВА)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бортовая шкала, холдовер ~10 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Наземный эталон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H-мазер Ч1-1008 (ВРЕМЯ-Ч)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хранение UTC(SU)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3484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0C1A30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Text 3"/>
          <p:cNvSpPr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CSAC = цезий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4864608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CSAC (chip-scale atomic clock) — это и есть миниатюрный, чип-масштабный цезиевый стандарт (Cs-133, когерентное пленение населённостей, CPT). Традиционные цезиевые лучевые стандарты (beam-tube) на борту не применяются — слишком крупны и энергоёмки. Серия «Quantum» — разработка ШИВА НЕТВОРК.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ШКАЛА ВРЕМЕНИ · §28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АВРОРА Time, привязка к UTC(SU) и ансамбль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Шкала и привязка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АВРОРА Time (AT) — реализуется группой H-мазеров Ч1-1008</a:t>
            </a:r>
            <a:endParaRPr lang="en-US" sz="120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UTC(SU) = AT − Δ; параметр Δ в нав-сообщении, обновление 6 ч</a:t>
            </a:r>
            <a:endParaRPr lang="en-US" sz="120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Стабильность AT относительно UTC(SU): &lt; 2 нс (1σ, сутки)</a:t>
            </a:r>
            <a:endParaRPr lang="en-US" sz="120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LPT — одностороннее время для потребителя: &lt; 10 нс</a:t>
            </a:r>
            <a:endParaRPr lang="en-US" sz="120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Сквозная синхронизация к UTC(SU): &lt; 5 нс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11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Распределённый ансамблевый эталон (§28.6)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CSAC + 15 space-Rb → составная шкала по теории композитных часов</a:t>
            </a:r>
            <a:endParaRPr lang="en-US" sz="120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σ_y(1 с) ≈ 1,3 × 10⁻¹² — лучше одиночного space-Rb (5 × 10⁻¹²)</a:t>
            </a:r>
            <a:endParaRPr lang="en-US" sz="120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часового сегмента ниже на ≈ 85% при той же шкале</a:t>
            </a:r>
            <a:endParaRPr lang="en-US" sz="120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Холдовер по ITU-T G.8273.2: clockClass 6 → 7 → 140 → 248</a:t>
            </a:r>
            <a:endParaRPr lang="en-US" sz="120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Самовосстановление: отказ узлов/GNSS не разрушает шкалу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НАЗЕМНАЯ РАЗДАЧА ВРЕМЕНИ · SHIWA TIME / PTP² · §28.4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Суверенное время — в пакетные сети, поверх нав-сигнала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0" y="1783080"/>
            <a:ext cx="6537960" cy="3931920"/>
          </a:xfrm>
          <a:prstGeom prst="roundRect">
            <a:avLst>
              <a:gd name="adj" fmla="val 1628"/>
            </a:avLst>
          </a:prstGeom>
          <a:solidFill>
            <a:srgbClr val="F4F8FC"/>
          </a:solidFill>
          <a:ln w="12700">
            <a:solidFill>
              <a:srgbClr val="2A3D5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sessions/inspiring-practical-franklin/mnt/aurora-pnt/results/system_concept/concept_time_dissemination_phase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38928" y="1892808"/>
            <a:ext cx="6318504" cy="37124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4160520" cy="3931920"/>
          </a:xfrm>
          <a:prstGeom prst="roundRect">
            <a:avLst>
              <a:gd name="adj" fmla="val 1860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21284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UTC(SU) → АВРОРА LPT (радио, &lt; 10 нс) → опорный узел SHIWA → P2P-mesh → потребители.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SHIWA TIME (ШИВА НЕТВОРК)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29184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Действующий демон (Go), P2P — без грандмастера и PTP-коммутаторов</a:t>
            </a:r>
            <a:endParaRPr lang="en-US" sz="10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NTP/NTS, PTP 1588-2019 (G.8275.1/.2), PHC, mesh на libp2p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4224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Аппаратура ШИВА НЕТВОРК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4498848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Опорные узлы Open TimeCard (IEEE P3335)</a:t>
            </a:r>
            <a:endParaRPr lang="en-US" sz="10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Stratum 3E OCXO (holdover 24 ч) + CSAC SA5x</a:t>
            </a:r>
            <a:endParaRPr lang="en-US" sz="10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линейка чип-цезия, что и бортовой стандарт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SHIWA TIME · ТОЧНОСТЬ И УНИКАЛЬНОСТЬ · §28.4/28.7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 точности, сквозной бюджет и отличие от PTP/NTP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5989320" cy="219456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Профиль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SHIWA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 (RSS)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ЦОД, биржа (аппарат. метки)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5 нс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7–11 нс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WAN/VPN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операторские, георазнесённые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50 нс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50 нс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LTE/инет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мобильные, 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200 нс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200 нс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— деградация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разрыв связи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удержание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clockClass 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114800"/>
            <a:ext cx="5989320" cy="1463040"/>
          </a:xfrm>
          <a:prstGeom prst="roundRect">
            <a:avLst>
              <a:gd name="adj" fmla="val 5000"/>
            </a:avLst>
          </a:prstGeom>
          <a:solidFill>
            <a:srgbClr val="0C1A30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4261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«Счастливый пакет» (Lucky Packet)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14400" y="4553712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Берётся минимум half-RTT из окна (пакет без очередей) — оценка реальной задержки без допущения о симметрии путей. Лаб. тест LAN: RMS 3,2 нс против 47 нс у программного PTP. Масштаб до 10⁵ узлов (RMS ≈ 6,5 нс).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812280" y="1828800"/>
            <a:ext cx="4754880" cy="3886200"/>
          </a:xfrm>
          <a:prstGeom prst="roundRect">
            <a:avLst>
              <a:gd name="adj" fmla="val 1882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Text 6"/>
          <p:cNvSpPr/>
          <p:nvPr/>
        </p:nvSpPr>
        <p:spPr>
          <a:xfrm>
            <a:off x="7086600" y="2011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отличается от PTP/NTP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086600" y="2331720"/>
            <a:ext cx="4251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P2P-ансамбль без грандмастера → нет единой точки отказа</a:t>
            </a:r>
            <a:endParaRPr lang="en-US" sz="11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Толерантность к асимметрии тракта (минимум/TWSTT)</a:t>
            </a:r>
            <a:endParaRPr lang="en-US" sz="11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Распределённый эталон времени И частоты (составная шкала)</a:t>
            </a:r>
            <a:endParaRPr lang="en-US" sz="11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Единое ядро для земли (Ground) и космоса (Space, ISL)</a:t>
            </a:r>
            <a:endParaRPr lang="en-US" sz="11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Программно-эволюционируемая метрология — обновление по парку</a:t>
            </a:r>
            <a:endParaRPr lang="en-US" sz="11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консенсусом; служебный обмен — крипто ГОСТ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086600" y="489204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Анти-спуфинг: LPT (TESLA MAC) и наземная mesh — два независимых UTC; их расхождение = индикатор атаки.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МЕЖСПУТНИКОВЫЕ ЛИНИИ · §9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Ka — автономность и единая шкала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72800" cy="301752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(180 КА)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 (300 КА)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Каналов ISL на 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(±in-plane, ±cross-plane)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Диапазон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 26 ГГц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 26 ГГц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Дальность Ka (маржа 3 дБ)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3814 км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3814 км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Удержание эфемерид без МЦУ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ч (с ISL OD)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Выигрыш ISL OD vs без 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24× по времени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9204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0C1A30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5029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выполняет три функции: автономное определение орбит (OD), перенос единой шкалы времени по группировке (ансамбль §28.6) и резервирование связи с наземным сегментом.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ТОЧНОСТНЫЕ ПОКАЗАТЕЛИ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Проверенные числа и режимы работы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UERE ≈ 0,7 м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32688" y="25786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Двухчастотный (L1+L5)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82880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 ≈ 1 м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681728" y="25786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Комбинированный режим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&lt; 5 нс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430768" y="25786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Сквозная синхронизация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46120"/>
          <a:ext cx="10972800" cy="21945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Состав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PDOP p95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Точность / эффект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Автономный LPT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LEO, суверенная шкала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независимость от внешних ГНСС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Combined LEO+ГЛОНАСС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ISB как 5-я неизвестная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CEP ≈ 1 м — наилучшая геометрия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Combined + СДКМ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 B + дифпоправки СДКМ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дальнейшее уточнение поправками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B8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Преимущество — геометрия комбинированного режима, PPP-сходимость 1–3 мин, Арктика (75°) и аутентификация, а не точность одиночной псевдодальности.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ЦЕЛОСТНОСТЬ · §49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ARAIM и защитные уровни (LPV-200)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0" y="1737360"/>
            <a:ext cx="5623560" cy="3977640"/>
          </a:xfrm>
          <a:prstGeom prst="roundRect">
            <a:avLst>
              <a:gd name="adj" fmla="val 1609"/>
            </a:avLst>
          </a:prstGeom>
          <a:solidFill>
            <a:srgbClr val="F4F8FC"/>
          </a:solidFill>
          <a:ln w="12700">
            <a:solidFill>
              <a:srgbClr val="2A3D5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sessions/inspiring-practical-franklin/mnt/aurora-pnt/results/araim/araim_vpl_hpl_phase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53328" y="1847088"/>
            <a:ext cx="5404104" cy="3758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37360"/>
            <a:ext cx="5029200" cy="3977640"/>
          </a:xfrm>
          <a:prstGeom prst="roundRect">
            <a:avLst>
              <a:gd name="adj" fmla="val 1839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результат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286000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ARAIM VPL ≈ 9,87 м &lt; VAL 35 м (LPV-200)</a:t>
            </a:r>
            <a:endParaRPr lang="en-US" sz="120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 целостности при многосозвездии LEO+ГЛОНАСС</a:t>
            </a:r>
            <a:endParaRPr lang="en-US" sz="120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Бортовой контроль RAIM (HPL/VPL) на приёмнике</a:t>
            </a:r>
            <a:endParaRPr lang="en-US" sz="120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 качества времени (clockClass) — в нав-сообщении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5074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— выход модели araim.py (Фаза 5); требуют лётного подтверждения.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ПОМЕХОЗАЩИТА И АУТЕНТИФИКАЦИЯ · §15/16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Защищённость сигнала и навигационного сообщения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Помехозащищённость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Б: +23 дБ (× 200) запас к подавлению</a:t>
            </a:r>
            <a:endParaRPr lang="en-US" sz="12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Выделенная L-полоса — без снижения орбиты</a:t>
            </a:r>
            <a:endParaRPr lang="en-US" sz="12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А: +11 дБ под маской ПФП МСЭ</a:t>
            </a:r>
            <a:endParaRPr lang="en-US" sz="12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 сравнения — ГЛОНАСС/MEO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11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Аутентификация и крипто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MAC (совместимость Galileo OSNMA)</a:t>
            </a:r>
            <a:endParaRPr lang="en-US" sz="12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уязвимости 90 с с холодного старта</a:t>
            </a:r>
            <a:endParaRPr lang="en-US" sz="12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 нав-сообщения — только ГОСТ</a:t>
            </a:r>
            <a:endParaRPr lang="en-US" sz="12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Стрибог (34.11), 34.10, Кузнечик/MGM</a:t>
            </a:r>
            <a:endParaRPr lang="en-US" sz="12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Блокируется 5 из 6 классов атак (replay/meaconing/…)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СУВЕРЕННОСТЬ ИНФРАСТРУКТУРЫ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Отечественная основа всех ключевых слоёв</a:t>
            </a:r>
            <a:endParaRPr lang="en-US" sz="2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72800" cy="35204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Раздел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Геодезический датум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ПЗ-90.11 (совмещён с ITRF2008 ≈ 3 мм)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UTC(SU), H-мазер Ч1-1008 (ВРЕМЯ-Ч), бортовой ансамбль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§8, §28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Криптография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ГОСТ: Стрибог, 34.10, Кузнечик/MGM (не NIST)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Сигнал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Сервис А (RNSS-совм.) + Сервис Б (своя L-полоса)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Раздача времени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SHIWA TIME + аппаратура ШИВА (Open TimeCard)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§28.4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ЭКБ и наземка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отечественная, кооперация РКП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ПРОМЫШЛЕННАЯ КООПЕРАЦИЯ · §66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исполнителей</a:t>
            </a:r>
            <a:endParaRPr lang="en-US" sz="2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72800" cy="3785616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Возможный исполнитель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 операционного КА (≈140 кг)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АО «ИСС» им. Решетнёва · ГК «СПУТНИКС»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Навигационная ПН и время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АО «РКС» — нав-аппаратура, ЧВО, UTC(SU)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Бортовые атомные часы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ООО «ШИВА НЕТВОРК» — Quantum-18 (space-Rb) + CSAC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Раздача времени (земля)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ООО «ШИВА НЕТВОРК» — SHIWA TIME + Open TimeCard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Наземный эталон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ОАО «Время-Ч» — H-мазер Ч1-1008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Двигательная установка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ОКБ «Факел»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Выведение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АО «РКЦ "Прогресс"»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Демонстраторы 16U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СПУТНИКС · Геоскан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ЗРЕЛОСТЬ И РИСКИ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2–3: критический путь и его закрытие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90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868680" y="38862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Аванпроект. Критический путь — 4 риска, закрываются демонстраторами Ф0–Ф1.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11880" y="1874520"/>
            <a:ext cx="7955280" cy="841248"/>
          </a:xfrm>
          <a:prstGeom prst="roundRect">
            <a:avLst>
              <a:gd name="adj" fmla="val 869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9624" y="2048256"/>
            <a:ext cx="493776" cy="493776"/>
          </a:xfrm>
          <a:prstGeom prst="ellipse">
            <a:avLst/>
          </a:prstGeom>
          <a:solidFill>
            <a:srgbClr val="0C1A30"/>
          </a:solidFill>
          <a:ln w="17780">
            <a:solidFill>
              <a:srgbClr val="00F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9624" y="20482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К-1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198424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CSAC — лётная квалификация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2951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собственная разработка ШИВА (как Quantum-18); инж. образец → квалификация Ф0–Ф1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2834640"/>
            <a:ext cx="7955280" cy="841248"/>
          </a:xfrm>
          <a:prstGeom prst="roundRect">
            <a:avLst>
              <a:gd name="adj" fmla="val 869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9624" y="3008376"/>
            <a:ext cx="493776" cy="493776"/>
          </a:xfrm>
          <a:prstGeom prst="ellipse">
            <a:avLst/>
          </a:prstGeom>
          <a:solidFill>
            <a:srgbClr val="0C1A30"/>
          </a:solidFill>
          <a:ln w="17780">
            <a:solidFill>
              <a:srgbClr val="38D9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9624" y="30083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D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К-2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6280" y="294436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/ фазовая ISL — заявочные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325526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лётная отработка Ф0–Ф1 → POD-фильтр Ф2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11880" y="3794760"/>
            <a:ext cx="7955280" cy="841248"/>
          </a:xfrm>
          <a:prstGeom prst="roundRect">
            <a:avLst>
              <a:gd name="adj" fmla="val 869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9624" y="3968496"/>
            <a:ext cx="493776" cy="493776"/>
          </a:xfrm>
          <a:prstGeom prst="ellipse">
            <a:avLst/>
          </a:prstGeom>
          <a:solidFill>
            <a:srgbClr val="0C1A30"/>
          </a:solidFill>
          <a:ln w="1778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9624" y="39684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К-4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26280" y="390448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спектр Сервиса Б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6280" y="421538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в МСЭ ≤ 2026 → ГКРЧ → координация; резерв — ведомств. режим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11880" y="4754880"/>
            <a:ext cx="7955280" cy="841248"/>
          </a:xfrm>
          <a:prstGeom prst="roundRect">
            <a:avLst>
              <a:gd name="adj" fmla="val 8696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9624" y="4928616"/>
            <a:ext cx="493776" cy="493776"/>
          </a:xfrm>
          <a:prstGeom prst="ellipse">
            <a:avLst/>
          </a:prstGeom>
          <a:solidFill>
            <a:srgbClr val="0C1A30"/>
          </a:solidFill>
          <a:ln w="17780">
            <a:solidFill>
              <a:srgbClr val="F5A5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9624" y="49286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К-3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26280" y="486460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восполнения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26280" y="517550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учтена в модели LCC (§51.3)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АВРОРА · Технический проект (СИЯНИЕ-ТП-001) · Конфиденциально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7772400" cy="7772400"/>
          </a:xfrm>
          <a:prstGeom prst="ellipse">
            <a:avLst/>
          </a:prstGeom>
          <a:ln w="12700">
            <a:solidFill>
              <a:srgbClr val="1531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СТАНДАРТЫ И РЕЗЮМЕ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Опорные техстандарты и ключевые выводы</a:t>
            </a:r>
            <a:endParaRPr lang="en-US" sz="2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6949440" cy="301752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F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Стандарт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Координатная основа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ПЗ-90.11 (совмещён с ITRF2008)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Раздача времени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1588-2019; ITU-T G.8275.1/.2, G.8273.2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Синхронизация частоты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ITU-T G.8261 / G.8262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Криптография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ГОСТ Р 34.11 / 34.10, Кузнечик (34.12) / MGM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Орбитальная ответственность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AF2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IADC / ООН (деорбит ≤ 25 лет)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828800"/>
            <a:ext cx="3703320" cy="3337560"/>
          </a:xfrm>
          <a:prstGeom prst="roundRect">
            <a:avLst>
              <a:gd name="adj" fmla="val 2192"/>
            </a:avLst>
          </a:prstGeom>
          <a:solidFill>
            <a:srgbClr val="11213B"/>
          </a:solidFill>
          <a:ln w="12700">
            <a:solidFill>
              <a:srgbClr val="2638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38160" y="2011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Резюме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38160" y="233172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LEO-усиление ГЛОНАСС, не замена MEO</a:t>
            </a:r>
            <a:endParaRPr lang="en-US" sz="11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Геометрия комбинир. режима + PPP 1–3 мин</a:t>
            </a:r>
            <a:endParaRPr lang="en-US" sz="11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Суверенное время: ансамбль + SHIWA TIME</a:t>
            </a:r>
            <a:endParaRPr lang="en-US" sz="11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Защищённость: +23 дБ, ГОСТ, TESLA</a:t>
            </a:r>
            <a:endParaRPr lang="en-US" sz="1150" dirty="0"/>
          </a:p>
          <a:p>
            <a:pPr marL="165100" indent="-1651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2–3 → де-рискинг на Ф0–Ф1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Воспроизводимость расчётов — программный комплекс aurora.pnt (§29.3). Приложение: техпроект СИЯНИЕ-ТП-001.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2449</Words>
  <Application>Microsoft Office PowerPoint</Application>
  <PresentationFormat>Широкоэкранный</PresentationFormat>
  <Paragraphs>374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АВРОРА — техническая презентация для специалистов</dc:title>
  <dc:subject>PptxGenJS Presentation</dc:subject>
  <dc:creator>ООО ШИВА НЕТВОРК</dc:creator>
  <cp:lastModifiedBy>SHIWA</cp:lastModifiedBy>
  <cp:revision>2</cp:revision>
  <dcterms:created xsi:type="dcterms:W3CDTF">2026-06-27T14:12:56Z</dcterms:created>
  <dcterms:modified xsi:type="dcterms:W3CDTF">2026-06-27T19:59:47Z</dcterms:modified>
</cp:coreProperties>
</file>